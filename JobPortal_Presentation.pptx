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asya Chowdary Gudavalli" userId="b1c526a8a3c0aa02" providerId="LiveId" clId="{FA5246FC-001F-4AC9-8D39-F6A37757DB13}"/>
    <pc:docChg chg="modSld">
      <pc:chgData name="Laasya Chowdary Gudavalli" userId="b1c526a8a3c0aa02" providerId="LiveId" clId="{FA5246FC-001F-4AC9-8D39-F6A37757DB13}" dt="2026-09-01T08:00:21.243" v="0" actId="1076"/>
      <pc:docMkLst>
        <pc:docMk/>
      </pc:docMkLst>
      <pc:sldChg chg="modSp mod">
        <pc:chgData name="Laasya Chowdary Gudavalli" userId="b1c526a8a3c0aa02" providerId="LiveId" clId="{FA5246FC-001F-4AC9-8D39-F6A37757DB13}" dt="2026-09-01T08:00:21.243" v="0" actId="1076"/>
        <pc:sldMkLst>
          <pc:docMk/>
          <pc:sldMk cId="0" sldId="259"/>
        </pc:sldMkLst>
        <pc:spChg chg="mod">
          <ac:chgData name="Laasya Chowdary Gudavalli" userId="b1c526a8a3c0aa02" providerId="LiveId" clId="{FA5246FC-001F-4AC9-8D39-F6A37757DB13}" dt="2026-09-01T08:00:21.243" v="0" actId="1076"/>
          <ac:spMkLst>
            <pc:docMk/>
            <pc:sldMk cId="0" sldId="259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030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C6790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FBE4C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C6790A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B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B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Portal with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Parsing &amp; Matching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" y="41605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B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database-driven web platform that automates resume parsing and intelligent candidate-job matching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786384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5193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6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 •  SEC 07  •  TEAM 13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5532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Mohana Asmitha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870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2520030486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5532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Nohitha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5870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2520030130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06440" y="5532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Laasya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06440" y="5870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2520030118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B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B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 with Resume Parsing &amp; Matching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6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858000" cy="4572000"/>
          </a:xfrm>
          <a:prstGeom prst="roundRect">
            <a:avLst>
              <a:gd name="adj" fmla="val 1600"/>
            </a:avLst>
          </a:prstGeom>
          <a:solidFill>
            <a:srgbClr val="F7F7F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10512"/>
            <a:ext cx="6263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 with Resume Parsing &amp; Matching</a:t>
            </a:r>
            <a:r>
              <a:rPr lang="en-US" sz="140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database-driven web application that simplifies recruitment for both job seekers and recruiters. Candidates build profiles, upload resumes and apply to roles; recruiters post vacancies and review applicants.
</a:t>
            </a: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 </a:t>
            </a:r>
            <a:r>
              <a:rPr lang="en-US" sz="140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extracts skills, education, experience, projects and certifications from uploaded resumes into a structured relational database.
</a:t>
            </a:r>
            <a:r>
              <a:rPr lang="en-US" sz="14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algorithm </a:t>
            </a:r>
            <a:r>
              <a:rPr lang="en-US" sz="140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candidate profiles with job requirements and generates a compatibility score based on skills, experience, education and certifications.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35240" y="15544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20293A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1755648"/>
            <a:ext cx="384048" cy="384048"/>
          </a:xfrm>
          <a:prstGeom prst="ellipse">
            <a:avLst/>
          </a:prstGeom>
          <a:solidFill>
            <a:srgbClr val="FBE4C4"/>
          </a:solidFill>
          <a:ln/>
        </p:spPr>
      </p:sp>
      <p:sp>
        <p:nvSpPr>
          <p:cNvPr id="8" name="Text 6"/>
          <p:cNvSpPr/>
          <p:nvPr/>
        </p:nvSpPr>
        <p:spPr>
          <a:xfrm>
            <a:off x="8366760" y="17190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 Design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0" y="217627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B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Normalization, keys, indexing, transactions &amp; query optimization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35240" y="3090672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20293A"/>
          </a:solidFill>
          <a:ln/>
        </p:spPr>
      </p:sp>
      <p:sp>
        <p:nvSpPr>
          <p:cNvPr id="11" name="Shape 9"/>
          <p:cNvSpPr/>
          <p:nvPr/>
        </p:nvSpPr>
        <p:spPr>
          <a:xfrm>
            <a:off x="7863840" y="3291840"/>
            <a:ext cx="384048" cy="384048"/>
          </a:xfrm>
          <a:prstGeom prst="ellipse">
            <a:avLst/>
          </a:prstGeom>
          <a:solidFill>
            <a:srgbClr val="FBE4C4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32552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Services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0" y="3712464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B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job, resume, matching &amp; application services over REST APIs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35240" y="4626864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20293A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0" y="4828032"/>
            <a:ext cx="384048" cy="384048"/>
          </a:xfrm>
          <a:prstGeom prst="ellipse">
            <a:avLst/>
          </a:prstGeom>
          <a:solidFill>
            <a:srgbClr val="FBE4C4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47914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0" y="5248656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B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screening, personalized recommendations, better candidate fit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 with Resume Parsing &amp; Matching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6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today is slow and inconsistent — recruiters manually read stacks of resumes while candidates struggle to find roles that truly fit their skills.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7F7F5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5877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0293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56946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Resume Screening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136392"/>
            <a:ext cx="4837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spend significant time manually reading unstructured resumes to shortlist candidates, which is slow and error-prone.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3317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7F7F5"/>
          </a:solidFill>
          <a:ln/>
        </p:spPr>
      </p:sp>
      <p:sp>
        <p:nvSpPr>
          <p:cNvPr id="11" name="Shape 9"/>
          <p:cNvSpPr/>
          <p:nvPr/>
        </p:nvSpPr>
        <p:spPr>
          <a:xfrm>
            <a:off x="6519672" y="25877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0293A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256946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Resume 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9672" y="3136392"/>
            <a:ext cx="4837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arrive in inconsistent formats, making it hard to store, search and compare candidate information reliably.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7F7F5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48280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0293A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80974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Candidate-Job Fit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" y="5376672"/>
            <a:ext cx="4837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systematic way to compare skills and requirements, candidates apply to unsuitable roles and recruiters miss good matches.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45720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7F7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519672" y="48280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0293A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32320" y="480974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Backend Systems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19672" y="5376672"/>
            <a:ext cx="4837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monolithic backend struggles to scale user management, job posting, parsing and matching independently.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 with Resume Parsing &amp; Matching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6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vs Proposed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87987" y="4576852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F7F7F5"/>
          </a:solidFill>
          <a:ln w="12700">
            <a:solidFill>
              <a:srgbClr val="E5E4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432304"/>
            <a:ext cx="128016" cy="12801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30428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resume screening by recruiters, prone to delay and bias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209544"/>
            <a:ext cx="128016" cy="12801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08152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stored as unstructured files (PDF/Word) with no relational structure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986784"/>
            <a:ext cx="128016" cy="12801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85876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or manual search with no compatibility scoring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764024"/>
            <a:ext cx="128016" cy="12801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63600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backend limits scalability and maintainability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5541264"/>
            <a:ext cx="128016" cy="12801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41324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to no observability into system performance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5349240" cy="4617720"/>
          </a:xfrm>
          <a:prstGeom prst="roundRect">
            <a:avLst>
              <a:gd name="adj" fmla="val 1584"/>
            </a:avLst>
          </a:prstGeom>
          <a:solidFill>
            <a:srgbClr val="2029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828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B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92240" y="2432304"/>
            <a:ext cx="128016" cy="128016"/>
          </a:xfrm>
          <a:prstGeom prst="ellipse">
            <a:avLst/>
          </a:prstGeom>
          <a:solidFill>
            <a:srgbClr val="FBE4C4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30428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resume parsing extracts skills, education, experience &amp; certifications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92240" y="3209544"/>
            <a:ext cx="128016" cy="128016"/>
          </a:xfrm>
          <a:prstGeom prst="ellipse">
            <a:avLst/>
          </a:prstGeom>
          <a:solidFill>
            <a:srgbClr val="FBE4C4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08152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relational storage (PostgreSQL) enables fast, reliable retrieval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0" y="3986784"/>
            <a:ext cx="128016" cy="128016"/>
          </a:xfrm>
          <a:prstGeom prst="ellipse">
            <a:avLst/>
          </a:prstGeom>
          <a:solidFill>
            <a:srgbClr val="FBE4C4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385876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algorithm generates a compatibility score for each application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4764024"/>
            <a:ext cx="128016" cy="128016"/>
          </a:xfrm>
          <a:prstGeom prst="ellipse">
            <a:avLst/>
          </a:prstGeom>
          <a:solidFill>
            <a:srgbClr val="FBE4C4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63600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services (user, job, resume, matching, application) via REST APIs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5541264"/>
            <a:ext cx="128016" cy="128016"/>
          </a:xfrm>
          <a:prstGeom prst="ellipse">
            <a:avLst/>
          </a:prstGeom>
          <a:solidFill>
            <a:srgbClr val="FBE4C4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541324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monitoring and observability across services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 with Resume Parsing &amp; Matching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6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BE4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— Candidate Web App  |  Recruiter Web 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214884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51760" y="2423160"/>
            <a:ext cx="6858000" cy="502920"/>
          </a:xfrm>
          <a:prstGeom prst="roundRect">
            <a:avLst>
              <a:gd name="adj" fmla="val 14545"/>
            </a:avLst>
          </a:prstGeom>
          <a:solidFill>
            <a:srgbClr val="C6790A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2423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Gateway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2926080"/>
            <a:ext cx="0" cy="2286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3246120"/>
            <a:ext cx="2048256" cy="1051560"/>
          </a:xfrm>
          <a:prstGeom prst="roundRect">
            <a:avLst>
              <a:gd name="adj" fmla="val 6957"/>
            </a:avLst>
          </a:prstGeom>
          <a:solidFill>
            <a:srgbClr val="20293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46120"/>
            <a:ext cx="204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24912" y="3246120"/>
            <a:ext cx="2048256" cy="1051560"/>
          </a:xfrm>
          <a:prstGeom prst="roundRect">
            <a:avLst>
              <a:gd name="adj" fmla="val 6957"/>
            </a:avLst>
          </a:prstGeom>
          <a:solidFill>
            <a:srgbClr val="20293A"/>
          </a:solidFill>
          <a:ln/>
        </p:spPr>
      </p:sp>
      <p:sp>
        <p:nvSpPr>
          <p:cNvPr id="13" name="Text 11"/>
          <p:cNvSpPr/>
          <p:nvPr/>
        </p:nvSpPr>
        <p:spPr>
          <a:xfrm>
            <a:off x="2724912" y="3246120"/>
            <a:ext cx="204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01184" y="3246120"/>
            <a:ext cx="2048256" cy="1051560"/>
          </a:xfrm>
          <a:prstGeom prst="roundRect">
            <a:avLst>
              <a:gd name="adj" fmla="val 6957"/>
            </a:avLst>
          </a:prstGeom>
          <a:solidFill>
            <a:srgbClr val="20293A"/>
          </a:solidFill>
          <a:ln/>
        </p:spPr>
      </p:sp>
      <p:sp>
        <p:nvSpPr>
          <p:cNvPr id="15" name="Text 13"/>
          <p:cNvSpPr/>
          <p:nvPr/>
        </p:nvSpPr>
        <p:spPr>
          <a:xfrm>
            <a:off x="4901184" y="3246120"/>
            <a:ext cx="204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77456" y="3246120"/>
            <a:ext cx="2048256" cy="1051560"/>
          </a:xfrm>
          <a:prstGeom prst="roundRect">
            <a:avLst>
              <a:gd name="adj" fmla="val 6957"/>
            </a:avLst>
          </a:prstGeom>
          <a:solidFill>
            <a:srgbClr val="20293A"/>
          </a:solidFill>
          <a:ln/>
        </p:spPr>
      </p:sp>
      <p:sp>
        <p:nvSpPr>
          <p:cNvPr id="17" name="Text 15"/>
          <p:cNvSpPr/>
          <p:nvPr/>
        </p:nvSpPr>
        <p:spPr>
          <a:xfrm>
            <a:off x="7077456" y="3246120"/>
            <a:ext cx="204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53728" y="3246120"/>
            <a:ext cx="2048256" cy="1051560"/>
          </a:xfrm>
          <a:prstGeom prst="roundRect">
            <a:avLst>
              <a:gd name="adj" fmla="val 6957"/>
            </a:avLst>
          </a:prstGeom>
          <a:solidFill>
            <a:srgbClr val="20293A"/>
          </a:solidFill>
          <a:ln/>
        </p:spPr>
      </p:sp>
      <p:sp>
        <p:nvSpPr>
          <p:cNvPr id="19" name="Text 17"/>
          <p:cNvSpPr/>
          <p:nvPr/>
        </p:nvSpPr>
        <p:spPr>
          <a:xfrm>
            <a:off x="9253728" y="3246120"/>
            <a:ext cx="2048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572768" y="4297680"/>
            <a:ext cx="0" cy="27432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749040" y="4297680"/>
            <a:ext cx="0" cy="27432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925312" y="4297680"/>
            <a:ext cx="0" cy="27432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101584" y="4297680"/>
            <a:ext cx="0" cy="27432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277856" y="4297680"/>
            <a:ext cx="0" cy="27432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7F7F5"/>
          </a:solidFill>
          <a:ln w="12700">
            <a:solidFill>
              <a:srgbClr val="E5E4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INFRASTRUCTURE LAYER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516636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79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1663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80560" y="516636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79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51663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83880" y="516636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679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51663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9436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C6790A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Cross-cutting: Docker containerization  •  OpenTelemetry / Prometheus / Grafana monitoring  •  CI/CD via GitHub Actions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 with Resume Parsing &amp; Matching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6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7F7F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20293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56232"/>
            <a:ext cx="3611880" cy="201168"/>
          </a:xfrm>
          <a:prstGeom prst="rect">
            <a:avLst/>
          </a:prstGeom>
          <a:solidFill>
            <a:srgbClr val="20293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00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167128"/>
            <a:ext cx="32095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7F7F5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1600200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20293A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856232"/>
            <a:ext cx="3611880" cy="201168"/>
          </a:xfrm>
          <a:prstGeom prst="rect">
            <a:avLst/>
          </a:prstGeom>
          <a:solidFill>
            <a:srgbClr val="2029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1600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44568" y="2167128"/>
            <a:ext cx="32095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+ JWT/OAuth2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Motor ORM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7F7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0" y="1600200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20293A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1856232"/>
            <a:ext cx="3611880" cy="201168"/>
          </a:xfrm>
          <a:prstGeom prst="rect">
            <a:avLst/>
          </a:prstGeom>
          <a:solidFill>
            <a:srgbClr val="20293A"/>
          </a:solidFill>
          <a:ln/>
        </p:spPr>
      </p:sp>
      <p:sp>
        <p:nvSpPr>
          <p:cNvPr id="17" name="Text 15"/>
          <p:cNvSpPr/>
          <p:nvPr/>
        </p:nvSpPr>
        <p:spPr>
          <a:xfrm>
            <a:off x="8339328" y="1600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39328" y="2167128"/>
            <a:ext cx="32095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(NoSQL)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7F7F5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60520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20293A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416552"/>
            <a:ext cx="3611880" cy="201168"/>
          </a:xfrm>
          <a:prstGeom prst="rect">
            <a:avLst/>
          </a:prstGeom>
          <a:solidFill>
            <a:srgbClr val="20293A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160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NLP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4727448"/>
            <a:ext cx="32095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NLP Microservice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 (HNSW / ANN)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1605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7F7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343400" y="4160520"/>
            <a:ext cx="3611880" cy="457200"/>
          </a:xfrm>
          <a:prstGeom prst="roundRect">
            <a:avLst>
              <a:gd name="adj" fmla="val 16000"/>
            </a:avLst>
          </a:prstGeom>
          <a:solidFill>
            <a:srgbClr val="20293A"/>
          </a:solidFill>
          <a:ln/>
        </p:spPr>
      </p:sp>
      <p:sp>
        <p:nvSpPr>
          <p:cNvPr id="26" name="Shape 24"/>
          <p:cNvSpPr/>
          <p:nvPr/>
        </p:nvSpPr>
        <p:spPr>
          <a:xfrm>
            <a:off x="4343400" y="4416552"/>
            <a:ext cx="3611880" cy="201168"/>
          </a:xfrm>
          <a:prstGeom prst="rect">
            <a:avLst/>
          </a:prstGeom>
          <a:solidFill>
            <a:srgbClr val="20293A"/>
          </a:solidFill>
          <a:ln/>
        </p:spPr>
      </p:sp>
      <p:sp>
        <p:nvSpPr>
          <p:cNvPr id="27" name="Text 25"/>
          <p:cNvSpPr/>
          <p:nvPr/>
        </p:nvSpPr>
        <p:spPr>
          <a:xfrm>
            <a:off x="4544568" y="4160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Discovery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44568" y="4727448"/>
            <a:ext cx="32095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2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41605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C6790A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416052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FastAPI platform with polyglot persistence (PostgreSQL, MongoDB, pgvector) and Elasticsearch-powered matching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 with Resume Parsing &amp; Matching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029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C6790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FBE4C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C6790A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53000" y="2926080"/>
            <a:ext cx="2286000" cy="18288"/>
          </a:xfrm>
          <a:prstGeom prst="rect">
            <a:avLst/>
          </a:prstGeom>
          <a:solidFill>
            <a:srgbClr val="C6790A"/>
          </a:solidFill>
          <a:ln/>
        </p:spPr>
      </p:sp>
      <p:sp>
        <p:nvSpPr>
          <p:cNvPr id="6" name="Text 4"/>
          <p:cNvSpPr/>
          <p:nvPr/>
        </p:nvSpPr>
        <p:spPr>
          <a:xfrm>
            <a:off x="1596000" y="3108960"/>
            <a:ext cx="900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588</Words>
  <Application>Microsoft Office PowerPoint</Application>
  <PresentationFormat>Widescreen</PresentationFormat>
  <Paragraphs>106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Laasya Chowdary Gudavalli</cp:lastModifiedBy>
  <cp:revision>1</cp:revision>
  <dcterms:created xsi:type="dcterms:W3CDTF">2026-09-01T03:03:23Z</dcterms:created>
  <dcterms:modified xsi:type="dcterms:W3CDTF">2026-09-01T08:00:31Z</dcterms:modified>
</cp:coreProperties>
</file>